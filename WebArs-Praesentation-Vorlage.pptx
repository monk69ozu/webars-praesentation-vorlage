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0" y="2926080"/>
            <a:ext cx="10058400" cy="8229600"/>
          </a:xfrm>
          <a:prstGeom prst="ellipse">
            <a:avLst/>
          </a:prstGeom>
          <a:solidFill>
            <a:srgbClr val="0A1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00400" y="4754880"/>
            <a:ext cx="6400800" cy="5486400"/>
          </a:xfrm>
          <a:prstGeom prst="ellipse">
            <a:avLst/>
          </a:prstGeom>
          <a:solidFill>
            <a:srgbClr val="112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Black"/>
              </a:rPr>
              <a:t>WEB</a:t>
            </a:r>
            <a:r>
              <a:rPr sz="2600" b="1" i="0">
                <a:solidFill>
                  <a:srgbClr val="7896FF"/>
                </a:solidFill>
                <a:latin typeface="Segoe UI Black"/>
              </a:rPr>
              <a:t>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1192" y="594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7896FF"/>
                </a:solidFill>
                <a:latin typeface="Segoe UI"/>
              </a:rPr>
              <a:t>WEBSITE-KONZEPT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822960" cy="38100"/>
          </a:xfrm>
          <a:prstGeom prst="rect">
            <a:avLst/>
          </a:prstGeom>
          <a:solidFill>
            <a:srgbClr val="184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 Black"/>
              </a:rPr>
              <a:t>Ihre Website.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 Black"/>
              </a:rPr>
              <a:t>Ihre neuen </a:t>
            </a:r>
            <a:r>
              <a:rPr sz="5200" b="1" i="1">
                <a:solidFill>
                  <a:srgbClr val="7896FF"/>
                </a:solidFill>
                <a:latin typeface="Segoe UI Black"/>
              </a:rPr>
              <a:t>Kunden.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4340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C9CEE0"/>
                </a:solidFill>
                <a:latin typeface="Segoe UI"/>
              </a:rPr>
              <a:t>Ein maßgeschneidertes Angebot in drei Paketen — professionell umgesetzt, blitzschnell online und gebaut, um Anfragen zu bringen.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9788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A8AEC4"/>
                </a:solidFill>
                <a:latin typeface="Segoe UI"/>
              </a:rPr>
              <a:t>Erstellt für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[Kundenname]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A8AEC4"/>
                </a:solidFill>
                <a:latin typeface="Segoe UI"/>
              </a:rPr>
              <a:t>[Ort], [Monat Jahr]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58978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Teodor Turlea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A8AEC4"/>
                </a:solidFill>
                <a:latin typeface="Segoe UI"/>
              </a:rPr>
              <a:t>WebArs e.U. — webars.at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40FF"/>
                </a:solidFill>
                <a:latin typeface="Segoe UI"/>
              </a:rPr>
              <a:t>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0E0D"/>
                </a:solidFill>
                <a:latin typeface="Segoe UI Black"/>
              </a:rPr>
              <a:t>Warum jetzt der richtige Zeitpunkt 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6720840" cy="14173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309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0F0E0D"/>
                </a:solidFill>
                <a:latin typeface="Segoe UI"/>
              </a:rPr>
              <a:t>Google Maps hat sich geändert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6B6B6E"/>
                </a:solidFill>
                <a:latin typeface="Segoe UI"/>
              </a:rPr>
              <a:t>Google bevorzugt Unternehmen mit eigener Website deutlich stärker in den lokalen Ergebnissen. Ohne Website verlieren Einträge sichtbar an Reichweite — die Konkurrenz rückt nach oben.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6720840" cy="14173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19272"/>
            <a:ext cx="6309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0F0E0D"/>
                </a:solidFill>
                <a:latin typeface="Segoe UI"/>
              </a:rPr>
              <a:t>Kunden prüfen Sie online — vor dem Anruf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6B6B6E"/>
                </a:solidFill>
                <a:latin typeface="Segoe UI"/>
              </a:rPr>
              <a:t>Wer Sie empfohlen bekommt, sucht zuerst im Internet. Keine Website bedeutet für viele: der Auftrag geht an den Mitbewerber, der professionell auftritt.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36592"/>
            <a:ext cx="6720840" cy="14173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01184"/>
            <a:ext cx="6309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0F0E0D"/>
                </a:solidFill>
                <a:latin typeface="Segoe UI"/>
              </a:rPr>
              <a:t>Eine Website arbeitet rund um die Uhr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6B6B6E"/>
                </a:solidFill>
                <a:latin typeface="Segoe UI"/>
              </a:rPr>
              <a:t>Anfragen, Öffnungszeiten, Leistungen, Anfahrt — alles beantwortet sich von selbst. Sie gewinnen Kunden, während Sie arbeiten oder schlafen.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72768"/>
            <a:ext cx="4142232" cy="4581144"/>
          </a:xfrm>
          <a:prstGeom prst="roundRect">
            <a:avLst>
              <a:gd name="adj" fmla="val 4500"/>
            </a:avLst>
          </a:prstGeom>
          <a:solidFill>
            <a:srgbClr val="04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2024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7896FF"/>
                </a:solidFill>
                <a:latin typeface="Segoe UI Black"/>
              </a:rPr>
              <a:t>2 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92608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Von der Entscheidung bis zur fertigen Website — das ist mein Versprechen.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977639"/>
            <a:ext cx="640080" cy="25400"/>
          </a:xfrm>
          <a:prstGeom prst="rect">
            <a:avLst/>
          </a:prstGeom>
          <a:solidFill>
            <a:srgbClr val="184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206240"/>
            <a:ext cx="3520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B8BED2"/>
                </a:solidFill>
                <a:latin typeface="Segoe UI"/>
              </a:rPr>
              <a:t>Kein monatelanges Projekt, keine Agentur-Warteschleife. Sie entscheiden, ich setze um — und in zwei Tagen sind Sie online, professionell und auffindbar.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0E0D"/>
                </a:solidFill>
                <a:latin typeface="Segoe UI Black"/>
              </a:rPr>
              <a:t>WEBARS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B6E"/>
                </a:solidFill>
                <a:latin typeface="Segoe UI"/>
              </a:rPr>
              <a:t>WEBSITE-KONZEPT — SEITE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40FF"/>
                </a:solidFill>
                <a:latin typeface="Segoe UI"/>
              </a:rPr>
              <a:t>IHRE MÖGLICHKEITEN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0E0D"/>
                </a:solidFill>
                <a:latin typeface="Segoe UI Black"/>
              </a:rPr>
              <a:t>Drei Pakete — ein 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56692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E"/>
                </a:solidFill>
                <a:latin typeface="Segoe UI"/>
              </a:rPr>
              <a:t>Alle Preise einmalig, ohne versteckte Kosten. Hosting und Domain im ersten Jahr inklusive.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39312" cy="4864608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1848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3127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0E0D"/>
                </a:solidFill>
                <a:latin typeface="Segoe UI Black"/>
              </a:rPr>
              <a:t>500 €</a:t>
            </a:r>
            <a:r>
              <a:rPr sz="1000" b="0" i="0">
                <a:solidFill>
                  <a:srgbClr val="6B6B6E"/>
                </a:solidFill>
                <a:latin typeface="Segoe UI"/>
              </a:rPr>
              <a:t>  einmalig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963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Der solide Einstieg: eine professionelle Visitenkarte im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08960"/>
            <a:ext cx="312724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Moderne Onepage-Website (1 Seite)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Optimiert für Handy &amp; Tablet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Kontaktformular &amp; Anruf-Button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Verknüpfung mit Google Maps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Impressum &amp; Datenschutz inklusive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1 Korrekturrunde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5715000"/>
            <a:ext cx="3127248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8247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6B6E"/>
                </a:solidFill>
                <a:latin typeface="Segoe UI"/>
              </a:rPr>
              <a:t>Fertig in 2 Tagen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207008"/>
            <a:ext cx="3639312" cy="310896"/>
          </a:xfrm>
          <a:prstGeom prst="roundRect">
            <a:avLst>
              <a:gd name="adj" fmla="val 4500"/>
            </a:avLst>
          </a:prstGeom>
          <a:solidFill>
            <a:srgbClr val="184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243584"/>
            <a:ext cx="3639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MEISTGEWÄHLT — BESTER GEGENWERT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417320"/>
            <a:ext cx="3639312" cy="4864608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25400">
            <a:solidFill>
              <a:srgbClr val="184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61848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40FF"/>
                </a:solidFill>
                <a:latin typeface="Segoe UI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920240"/>
            <a:ext cx="3127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0E0D"/>
                </a:solidFill>
                <a:latin typeface="Segoe UI Black"/>
              </a:rPr>
              <a:t>1.000 €</a:t>
            </a:r>
            <a:r>
              <a:rPr sz="1000" b="0" i="0">
                <a:solidFill>
                  <a:srgbClr val="6B6B6E"/>
                </a:solidFill>
                <a:latin typeface="Segoe UI"/>
              </a:rPr>
              <a:t>  einmalig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963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Der komplette Marktauftritt: mehrere Seiten, gefunden werden, Anfragen gewinnen.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08960"/>
            <a:ext cx="312724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Bis zu 5 individuelle Unterseiten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Maßgeschneidertes Design — kein Baukasten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Google-Optimierung (SEO) — Sie werden gefunden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Volle Google-Maps-Anbindung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WhatsApp-Direktkontakt für Kunden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Professionelle Texte — ich schreibe für Sie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2 Korrekturrunden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3 Monate persönlicher Support inklusive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5715000"/>
            <a:ext cx="3127248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8247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840FF"/>
                </a:solidFill>
                <a:latin typeface="Segoe UI"/>
              </a:rPr>
              <a:t>Fertig in 2 Tagen — Empfehlung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7616" y="1417320"/>
            <a:ext cx="3639312" cy="4864608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161848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1920240"/>
            <a:ext cx="31272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0E0D"/>
                </a:solidFill>
                <a:latin typeface="Segoe UI Black"/>
              </a:rPr>
              <a:t>1.500 €</a:t>
            </a:r>
            <a:r>
              <a:rPr sz="1000" b="0" i="0">
                <a:solidFill>
                  <a:srgbClr val="6B6B6E"/>
                </a:solidFill>
                <a:latin typeface="Segoe UI"/>
              </a:rPr>
              <a:t>  einmalig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496312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Für den maximalen Auftritt mit Ausbau-Reserven.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108960"/>
            <a:ext cx="312724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Alles aus Business, zusätzlich: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Bis zu 10 Unterseiten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News- / Aktuelles-Bereich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Zweite Sprache (z. B. Englisch)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Beratung zu Fotos &amp; Außenauftritt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6 Monate persönlicher Support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1050" b="1" i="0">
                <a:solidFill>
                  <a:srgbClr val="1840FF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0F0E0D"/>
                </a:solidFill>
                <a:latin typeface="Segoe UI"/>
              </a:rPr>
              <a:t>Bevorzugte Bearbeitung bei Änderungen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13648" y="5715000"/>
            <a:ext cx="3127248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58247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6B6E"/>
                </a:solidFill>
                <a:latin typeface="Segoe UI"/>
              </a:rPr>
              <a:t>Fertig in 3–4 Tagen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0E0D"/>
                </a:solidFill>
                <a:latin typeface="Segoe UI Black"/>
              </a:rPr>
              <a:t>WEBARS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B6E"/>
                </a:solidFill>
                <a:latin typeface="Segoe UI"/>
              </a:rPr>
              <a:t>WEBSITE-KONZEPT — SEITE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40FF"/>
                </a:solidFill>
                <a:latin typeface="Segoe UI"/>
              </a:rPr>
              <a:t>SO EINFACH GEHT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0E0D"/>
                </a:solidFill>
                <a:latin typeface="Segoe UI Black"/>
              </a:rPr>
              <a:t>Von heute bis online — in 4 Schritten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97480" cy="32461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10512"/>
            <a:ext cx="2258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40FF"/>
                </a:solidFill>
                <a:latin typeface="Segoe UI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31720"/>
            <a:ext cx="2258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Gespräch &amp; Entscheidung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07792"/>
            <a:ext cx="22585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Wir klären gemeinsam, was Ihre Website leisten soll: Leistungen, Zielkunden, gewünschte Seiten. Sie wählen Ihr Paket.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46227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840FF"/>
                </a:solidFill>
                <a:latin typeface="Segoe UI"/>
              </a:rPr>
              <a:t>HEUTE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600200"/>
            <a:ext cx="2697480" cy="32461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810512"/>
            <a:ext cx="2258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40FF"/>
                </a:solidFill>
                <a:latin typeface="Segoe UI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331720"/>
            <a:ext cx="2258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Design-Entwurf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907792"/>
            <a:ext cx="22585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Ich gestalte Ihren Auftritt: Farben, Aufbau, Struktur — abgestimmt auf Ihr Unternehmen. Sie sehen ein konkretes Ergebnis, kein Konzeptpapier.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446227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840FF"/>
                </a:solidFill>
                <a:latin typeface="Segoe UI"/>
              </a:rPr>
              <a:t>TAG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600200"/>
            <a:ext cx="2697480" cy="32461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810512"/>
            <a:ext cx="2258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40FF"/>
                </a:solidFill>
                <a:latin typeface="Segoe UI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331720"/>
            <a:ext cx="2258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Umsetzung &amp; Feinschliff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907792"/>
            <a:ext cx="22585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Die komplette Website wird gebaut: alle Seiten, Texte, Kontaktwege, Google-Anbindung. Ihre Korrekturwünsche fließen direkt ein.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46227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840FF"/>
                </a:solidFill>
                <a:latin typeface="Segoe UI"/>
              </a:rPr>
              <a:t>TAG 1–2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600200"/>
            <a:ext cx="2697480" cy="3246120"/>
          </a:xfrm>
          <a:prstGeom prst="roundRect">
            <a:avLst>
              <a:gd name="adj" fmla="val 4500"/>
            </a:avLst>
          </a:prstGeom>
          <a:solidFill>
            <a:srgbClr val="F8F8F9"/>
          </a:solidFill>
          <a:ln w="9525">
            <a:solidFill>
              <a:srgbClr val="D9D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1810512"/>
            <a:ext cx="2258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40FF"/>
                </a:solidFill>
                <a:latin typeface="Segoe UI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4" y="2331720"/>
            <a:ext cx="2258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F0E0D"/>
                </a:solidFill>
                <a:latin typeface="Segoe UI"/>
              </a:rPr>
              <a:t>Livegang &amp; Übergabe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2907792"/>
            <a:ext cx="22585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B6B6E"/>
                </a:solidFill>
                <a:latin typeface="Segoe UI"/>
              </a:rPr>
              <a:t>Ihre Website geht online — mit eigener Adresse, auf Google auffindbar, auf jedem Gerät perfekt. Alles wird übergeben und in Ruhe erklärt.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4" y="446227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840FF"/>
                </a:solidFill>
                <a:latin typeface="Segoe UI"/>
              </a:rPr>
              <a:t>TAG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4500"/>
            </a:avLst>
          </a:prstGeom>
          <a:solidFill>
            <a:srgbClr val="04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Ihr Aufwand: rund eine Stunde. </a:t>
            </a:r>
            <a:r>
              <a:rPr sz="1200" b="0" i="0">
                <a:solidFill>
                  <a:srgbClr val="B8BED2"/>
                </a:solidFill>
                <a:latin typeface="Segoe UI"/>
              </a:rPr>
              <a:t>Sie liefern mir Ihr Logo, ein paar Fotos und Ihre Eckdaten — den Rest übernehme ich komplett. Texte, Technik, Design, Google: alles aus einer Hand.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D9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F0E0D"/>
                </a:solidFill>
                <a:latin typeface="Segoe UI Black"/>
              </a:rPr>
              <a:t>WEBARS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6B6E"/>
                </a:solidFill>
                <a:latin typeface="Segoe UI"/>
              </a:rPr>
              <a:t>WEBSITE-KONZEPT — SEITE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3657600"/>
            <a:ext cx="10058400" cy="8229600"/>
          </a:xfrm>
          <a:prstGeom prst="ellipse">
            <a:avLst/>
          </a:prstGeom>
          <a:solidFill>
            <a:srgbClr val="0A1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96FF"/>
                </a:solidFill>
                <a:latin typeface="Segoe UI"/>
              </a:rPr>
              <a:t>DER NÄCHSTE SCHRITT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Black"/>
              </a:rPr>
              <a:t>Entscheiden Sie heute — </a:t>
            </a:r>
            <a:r>
              <a:rPr sz="3600" b="1" i="1">
                <a:solidFill>
                  <a:srgbClr val="7896FF"/>
                </a:solidFill>
                <a:latin typeface="Segoe UI Black"/>
              </a:rPr>
              <a:t>online in 2 Tagen.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C9CEE0"/>
                </a:solidFill>
                <a:latin typeface="Segoe UI"/>
              </a:rPr>
              <a:t>Sie wählen das Paket, das zu Ihnen passt. Ich starte sofort mit der Umsetzung — und noch diese Woche präsentiert sich Ihr Unternehmen professionell im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3566160" cy="1691640"/>
          </a:xfrm>
          <a:prstGeom prst="roundRect">
            <a:avLst>
              <a:gd name="adj" fmla="val 4500"/>
            </a:avLst>
          </a:prstGeom>
          <a:solidFill>
            <a:srgbClr val="0C1126"/>
          </a:solidFill>
          <a:ln w="9525">
            <a:solidFill>
              <a:srgbClr val="24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52044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96FF"/>
                </a:solidFill>
                <a:latin typeface="Segoe UI"/>
              </a:rPr>
              <a:t>FESTPREIS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858768"/>
            <a:ext cx="30906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9CEE0"/>
                </a:solidFill>
                <a:latin typeface="Segoe UI"/>
              </a:rPr>
              <a:t>Keine versteckten Kosten, keine Abos — Sie wissen vorher genau, was es kostet.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3291840"/>
            <a:ext cx="3566160" cy="1691640"/>
          </a:xfrm>
          <a:prstGeom prst="roundRect">
            <a:avLst>
              <a:gd name="adj" fmla="val 4500"/>
            </a:avLst>
          </a:prstGeom>
          <a:solidFill>
            <a:srgbClr val="0C1126"/>
          </a:solidFill>
          <a:ln w="9525">
            <a:solidFill>
              <a:srgbClr val="24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352044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96FF"/>
                </a:solidFill>
                <a:latin typeface="Segoe UI"/>
              </a:rPr>
              <a:t>PERSÖNLICH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858768"/>
            <a:ext cx="30906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9CEE0"/>
                </a:solidFill>
                <a:latin typeface="Segoe UI"/>
              </a:rPr>
              <a:t>Ein direkter Ansprechpartner — kein Callcenter, keine Agentur-Warteschleife.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291840"/>
            <a:ext cx="3566160" cy="1691640"/>
          </a:xfrm>
          <a:prstGeom prst="roundRect">
            <a:avLst>
              <a:gd name="adj" fmla="val 4500"/>
            </a:avLst>
          </a:prstGeom>
          <a:solidFill>
            <a:srgbClr val="0C1126"/>
          </a:solidFill>
          <a:ln w="9525">
            <a:solidFill>
              <a:srgbClr val="24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2044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96FF"/>
                </a:solidFill>
                <a:latin typeface="Segoe UI"/>
              </a:rPr>
              <a:t>AUS WIEN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858768"/>
            <a:ext cx="30906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9CEE0"/>
                </a:solidFill>
                <a:latin typeface="Segoe UI"/>
              </a:rPr>
              <a:t>Kurze Wege, schnelle Abstimmung, Handschlagqualität — persönlich statt anonym.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23560"/>
            <a:ext cx="10908792" cy="12700"/>
          </a:xfrm>
          <a:prstGeom prst="rect">
            <a:avLst/>
          </a:prstGeom>
          <a:solidFill>
            <a:srgbClr val="24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Teodor Turlea</a:t>
            </a:r>
            <a:r>
              <a:rPr sz="1300" b="0" i="0">
                <a:solidFill>
                  <a:srgbClr val="C9CEE0"/>
                </a:solidFill>
                <a:latin typeface="Segoe UI"/>
              </a:rPr>
              <a:t> — WebArs e.U.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A8AEC4"/>
                </a:solidFill>
                <a:latin typeface="Segoe UI"/>
              </a:rPr>
              <a:t>turlea@webars.at   ·   webars.at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5943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Black"/>
              </a:rPr>
              <a:t>WEB</a:t>
            </a:r>
            <a:r>
              <a:rPr sz="2200" b="1" i="0">
                <a:solidFill>
                  <a:srgbClr val="7896FF"/>
                </a:solidFill>
                <a:latin typeface="Segoe UI Black"/>
              </a:rPr>
              <a:t>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